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9418320" cy="36576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股票量化交易系统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196F3"/>
                </a:solidFill>
                <a:latin typeface="Microsoft YaHei"/>
              </a:defRPr>
            </a:pPr>
            <a:r>
              <a:t>Quantitative Trading System — Architecture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Microsoft YaHei"/>
              </a:defRPr>
            </a:pPr>
            <a:r>
              <a:t>模块化架构 | AI Agent 智能分析 | 对话式交互 | 完整回测链路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4336"/>
                </a:solidFill>
                <a:latin typeface="Microsoft YaHei"/>
              </a:defRPr>
            </a:pPr>
            <a:r>
              <a:t>风险声明：本系统仅供教育及研究目的，不构成任何投资建议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Microsoft YaHei"/>
              </a:defRPr>
            </a:pPr>
            <a:r>
              <a:t>Stock Quant System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41148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🎯 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构建完整的A股量化回测系统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支持自定义策略开发与验证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AI Agent 辅助分析与决策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教学用途，非实盘交易工具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645920"/>
            <a:ext cx="3474720" cy="41148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🏗️ 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10大功能模块，60+ Python文件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模块化设计，各模块可独立调用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统一数据Schema，多数据源支持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Streamlit Web UI + CLI 双模式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🤖 AI 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市场状态自动诊断 (ADX/RSI/波动率)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策略智能推荐 (5种策略自动匹配)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参数自动优化 (网格搜索+交叉验证)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对话式交互 (自然语言查询分析)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项目定位：教学演示 · 不构成投资建议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System Architecture —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1325880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📡 数据采集</a:t>
            </a:r>
            <a:br/>
            <a:r>
              <a:t>AKShare/YFinance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1600200" y="2468880"/>
            <a:ext cx="137160" cy="27432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2011680"/>
            <a:ext cx="1325880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🧹 数据清洗</a:t>
            </a:r>
            <a:br/>
            <a:r>
              <a:t>缺失值/异常值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3063240" y="2468880"/>
            <a:ext cx="137160" cy="27432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2011680"/>
            <a:ext cx="132588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📊 因子计算</a:t>
            </a:r>
            <a:br/>
            <a:r>
              <a:t>12+指标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4526280" y="2468880"/>
            <a:ext cx="137160" cy="27432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011680"/>
            <a:ext cx="1325880" cy="1188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🎯 信号生成</a:t>
            </a:r>
            <a:br/>
            <a:r>
              <a:t>趋势/反转/多因子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5989320" y="2468880"/>
            <a:ext cx="137160" cy="27432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011680"/>
            <a:ext cx="1325880" cy="1188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💰 仓位风控</a:t>
            </a:r>
            <a:br/>
            <a:r>
              <a:t>3模型+5规则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7452360" y="2468880"/>
            <a:ext cx="137160" cy="27432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011680"/>
            <a:ext cx="1325880" cy="1188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📈 回测引擎</a:t>
            </a:r>
            <a:br/>
            <a:r>
              <a:t>向量化模拟</a:t>
            </a:r>
          </a:p>
        </p:txBody>
      </p:sp>
      <p:sp>
        <p:nvSpPr>
          <p:cNvPr id="16" name="Parallelogram 15"/>
          <p:cNvSpPr/>
          <p:nvPr/>
        </p:nvSpPr>
        <p:spPr>
          <a:xfrm>
            <a:off x="8915400" y="2468880"/>
            <a:ext cx="137160" cy="27432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2011680"/>
            <a:ext cx="1325880" cy="118872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📉 可视化</a:t>
            </a:r>
            <a:br/>
            <a:r>
              <a:t>6种图表</a:t>
            </a:r>
          </a:p>
        </p:txBody>
      </p:sp>
      <p:sp>
        <p:nvSpPr>
          <p:cNvPr id="18" name="Parallelogram 17"/>
          <p:cNvSpPr/>
          <p:nvPr/>
        </p:nvSpPr>
        <p:spPr>
          <a:xfrm>
            <a:off x="10378440" y="2468880"/>
            <a:ext cx="137160" cy="27432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0" y="2011680"/>
            <a:ext cx="1325880" cy="118872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🔍 优化</a:t>
            </a:r>
            <a:br/>
            <a:r>
              <a:t>网格搜索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86200"/>
            <a:ext cx="137160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96F3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data/ — AKShare数据源 + 统一Schema + 清洗 + Parquet缓存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137160" cy="137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Microsoft YaHei"/>
              </a:defRPr>
            </a:pPr>
            <a:r>
              <a:t>引擎层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factors/ + signals/ + portfolio/ — 因子→信号→仓位→风控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92040"/>
            <a:ext cx="137160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800"/>
                </a:solidFill>
                <a:latin typeface="Microsoft YaHei"/>
              </a:defRPr>
            </a:pPr>
            <a:r>
              <a:t>执行层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backtest/ — 向量化回测 + 指标计算 + 滑点手续费模型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60"/>
            <a:ext cx="137160" cy="1371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Microsoft YaHei"/>
              </a:defRPr>
            </a:pPr>
            <a:r>
              <a:t>分析层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visualization/ + optimization/ — 图表 + 网格搜索 + 过拟合检测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897880"/>
            <a:ext cx="137160" cy="1371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852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C27B0"/>
                </a:solidFill>
                <a:latin typeface="Microsoft YaHei"/>
              </a:defRPr>
            </a:pPr>
            <a:r>
              <a:t>智能层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agent/ — 市场诊断 + 策略推荐 + 对话式交互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6400800"/>
            <a:ext cx="137160" cy="1371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6355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D4"/>
                </a:solidFill>
                <a:latin typeface="Microsoft YaHei"/>
              </a:defRPr>
            </a:pPr>
            <a:r>
              <a:t>界面层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app.py — Streamlit Web UI (3个标签页)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数据流：Data → Clean → Factors → Signals → Portfolio → Backtest →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数据采集模块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Data Layer — AKShare + Unified Schema + Clean +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AKShareSource: 免费A股日线下载（前复权/后复权/不复权）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YFinanceSource: 美股数据（备用）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column_mapper: 中文列名 → 英文标准列名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统一Schema: [symbol, date, open, high, low, close, volume, amount]</a:t>
            </a:r>
          </a:p>
          <a:p>
            <a:pPr>
              <a:spcAft>
                <a:spcPts val="200"/>
              </a:spcAft>
              <a:defRPr sz="1000">
                <a:solidFill>
                  <a:srgbClr val="444444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DataCleaner 清洗管线: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  → forward_fill_ohlcv() 前向填充（max_gap=3天）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  → remove_outliers_by_zscore() Z-score异常剔除</a:t>
            </a: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  → remove_price_anomalies() 零价/负价/极端价过滤</a:t>
            </a:r>
          </a:p>
          <a:p>
            <a:pPr>
              <a:spcAft>
                <a:spcPts val="200"/>
              </a:spcAft>
              <a:defRPr sz="1000">
                <a:solidFill>
                  <a:srgbClr val="444444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CacheManager: 内存 + Parquet双层缓存，TTL过期策略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645920"/>
          <a:ext cx="4754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3E"/>
                          </a:solidFill>
                          <a:latin typeface="Microsoft YaHei"/>
                        </a:defRPr>
                      </a:pPr>
                      <a:r>
                        <a:t>列名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3E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3E"/>
                          </a:solidFill>
                          <a:latin typeface="Microsoft YaHei"/>
                        </a:defRPr>
                      </a:pPr>
                      <a:r>
                        <a:t>AKShare源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233E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196F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str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股票代码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标的代码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交易日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开盘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开盘价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最高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最高价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最低价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收盘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收盘价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成交量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成交量(股)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成交额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成交额(元)</a:t>
                      </a:r>
                    </a:p>
                  </a:txBody>
                  <a:tcPr>
                    <a:solidFill>
                      <a:srgbClr val="25305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数据源：AKShare免费接口 · 本地Parquet缓存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因子指标库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Factor Library — 12+ Technical Indicators + Registry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114800" cy="1417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技术指标 technical.py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SMAFactor(window) — 简单移动均线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EMAFactor(window) — 指数移动均线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MACDFactor(fast,slow,signal) — MACD线/信号线/柱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RSIFactor(window) — 相对强弱指数(0-100)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BollingerFactor(window,std) — 上轨/中轨/下轨/%b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ATRFactor(window) — 平均真实波幅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4114800" cy="1417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动量因子 momentum.py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RateOfChangeFactor(window) — ROC变化率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MomentumFactor(window) — 价格动量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RelativeStrengthFactor(window) — 相对强弱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4114800" cy="1417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37759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波动率 volatility.py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03520"/>
            <a:ext cx="3840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HistoricalVolatilityFactor — 历史波动率(年化)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DailyReturnFactor — 日收益率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VolumeWeightedPriceFactor — VWAP偏离度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645920"/>
            <a:ext cx="6400800" cy="1417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7373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27B0"/>
                </a:solidFill>
                <a:latin typeface="Microsoft YaHei"/>
              </a:defRPr>
            </a:pPr>
            <a:r>
              <a:t>FactorRegistry 注册中心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103120"/>
            <a:ext cx="6126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装饰器注册: @FactorRegistry.register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手动注册: FactorRegistry.add(name, cls)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创建实例: FactorRegistry.create(name, params)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列出因子: FactorRegistry.list_factors() → 12个已注册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支持用户自定义因子热插拔，无需修改核心代码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383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A0D0FF"/>
                </a:solidFill>
                <a:latin typeface="Consolas"/>
              </a:defRPr>
            </a:pPr>
            <a:r>
              <a:t>@FactorRegistry.register</a:t>
            </a:r>
          </a:p>
          <a:p>
            <a:pPr>
              <a:spcAft>
                <a:spcPts val="100"/>
              </a:spcAft>
              <a:defRPr sz="1100">
                <a:solidFill>
                  <a:srgbClr val="A0D0FF"/>
                </a:solidFill>
                <a:latin typeface="Consolas"/>
              </a:defRPr>
            </a:pPr>
            <a:r>
              <a:t>class MyMomentumFactor(Factor):</a:t>
            </a:r>
          </a:p>
          <a:p>
            <a:pPr>
              <a:spcAft>
                <a:spcPts val="100"/>
              </a:spcAft>
              <a:defRPr sz="1100">
                <a:solidFill>
                  <a:srgbClr val="A0D0FF"/>
                </a:solidFill>
                <a:latin typeface="Consolas"/>
              </a:defRPr>
            </a:pPr>
            <a:r>
              <a:t>    def compute(self, data):</a:t>
            </a:r>
          </a:p>
          <a:p>
            <a:pPr>
              <a:spcAft>
                <a:spcPts val="100"/>
              </a:spcAft>
              <a:defRPr sz="1100">
                <a:solidFill>
                  <a:srgbClr val="A0D0FF"/>
                </a:solidFill>
                <a:latin typeface="Consolas"/>
              </a:defRPr>
            </a:pPr>
            <a:r>
              <a:t>        return data['close'].pct_change(20)</a:t>
            </a:r>
          </a:p>
          <a:p>
            <a:pPr>
              <a:spcAft>
                <a:spcPts val="100"/>
              </a:spcAft>
              <a:defRPr sz="1100">
                <a:solidFill>
                  <a:srgbClr val="A0D0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A0D0FF"/>
                </a:solidFill>
                <a:latin typeface="Consolas"/>
              </a:defRPr>
            </a:pPr>
            <a:r>
              <a:t># 使用</a:t>
            </a:r>
          </a:p>
          <a:p>
            <a:pPr>
              <a:spcAft>
                <a:spcPts val="100"/>
              </a:spcAft>
              <a:defRPr sz="1100">
                <a:solidFill>
                  <a:srgbClr val="A0D0FF"/>
                </a:solidFill>
                <a:latin typeface="Consolas"/>
              </a:defRPr>
            </a:pPr>
            <a:r>
              <a:t>factor = FactorRegistry.create('SMAFactor', {'window': 20})</a:t>
            </a:r>
          </a:p>
          <a:p>
            <a:pPr>
              <a:spcAft>
                <a:spcPts val="100"/>
              </a:spcAft>
              <a:defRPr sz="1100">
                <a:solidFill>
                  <a:srgbClr val="A0D0FF"/>
                </a:solidFill>
                <a:latin typeface="Consolas"/>
              </a:defRPr>
            </a:pPr>
            <a:r>
              <a:t>result = factor.compute(ohlcv_data)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因子基于历史价格计算 · 不具备预测能力 · 注册中心支持无限扩展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信号生成引擎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Signal Engine — Trend + Reversal + Multi-Factor + Filter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34747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趋势跟踪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2004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DualMACrossoverSignal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快线(5)上穿慢线(20) → 买入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快线下穿慢线 → 卖出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MACDSignalGenerator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MACD上穿信号线 → 金叉买入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下穿 → 死叉卖出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645920"/>
            <a:ext cx="3474720" cy="34747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均值回归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32004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RSIReversalSignal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RSI&lt;30且回升 → 超卖买入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RSI&gt;70且回落 → 超买卖出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BollingerReversalSignal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价格触下轨回升 → 买入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价格触上轨回落 → 卖出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474720" cy="34747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多因子打分+过滤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320040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MultiFactorScorer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Z-score归一化 + 加权求和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score &gt; buy_threshold → 买入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score &lt; sell_threshold → 卖出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FilterChain (AND/OR/NOT)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min_volume: 最低成交量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volatility_filter: 波动率上限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  min_bars_between_trades: 最小间隔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信号约定: +1买入 / -1卖出 / 0持仓不变 / NaN空仓 · 保留信号强度连续值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仓位管理与风控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Portfolio &amp; Risk — 3 Position Models + 5 Risk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00" cy="1417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固定仓位 FixedFractionSizer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fraction=0.10: 每次用10%资金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max_fraction=0.25: 上限25%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目标股数 = 资金×比例/价格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适合: 简单直接，新手友好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486400" cy="1417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ATR动态 ATRPositionSizer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risk_pct=0.02: 单笔风险2%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atr_window=14, multiplier=2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目标股数 = 资金×风险/(ATR×倍数)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适合: 自动适配波动率环境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5486400" cy="1417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凯利公式 KellyPositionSizer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f* = p − (1−p)/b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fraction=0.25: 1/4凯利(保守)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胜率×盈亏比 → 最优仓位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适合: 有历史统计基础的策略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4336"/>
                </a:solidFill>
                <a:latin typeface="Microsoft YaHei"/>
              </a:defRPr>
            </a:pPr>
            <a:r>
              <a:t>RiskManager 风控管理器 (组合模式)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1031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1. FixedStopLoss(7%): 单笔亏损&gt;7% → 强制平仓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2. TrailingStop(15%): 从最高点回撤&gt;15% → 平仓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3. DailyLossLimit(3%): 当日亏损&gt;3% → 停止交易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4. MaxDrawdownLimit(25%): 总回撤&gt;25% → 全部平仓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5. ConsecutiveLossLimit(5): 连续亏损5次 → 暂停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  <a:r>
              <a:t>风控流程:</a:t>
            </a:r>
          </a:p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FFCC80"/>
                </a:solidFill>
                <a:latin typeface="Consolas"/>
              </a:defRPr>
            </a:pPr>
            <a:r>
              <a:t>  开仓请求 → 风控链检查 →</a:t>
            </a:r>
          </a:p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  <a:r>
              <a:t>    ↓                    ↓</a:t>
            </a:r>
          </a:p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  <a:r>
              <a:t>  [止损检查]        [日内限制]</a:t>
            </a:r>
          </a:p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  <a:r>
              <a:t>    ↓                    ↓</a:t>
            </a:r>
          </a:p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  <a:r>
              <a:t>  [固定7%]          [日亏3%]</a:t>
            </a:r>
          </a:p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  <a:r>
              <a:t>    ↓                    ↓</a:t>
            </a:r>
          </a:p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  <a:r>
              <a:t>  [移动15%]         [总回撤25%]</a:t>
            </a:r>
          </a:p>
          <a:p>
            <a:pPr>
              <a:spcAft>
                <a:spcPts val="100"/>
              </a:spcAft>
              <a:defRPr sz="1100">
                <a:solidFill>
                  <a:srgbClr val="F5F5F5"/>
                </a:solidFill>
                <a:latin typeface="Consolas"/>
              </a:defRPr>
            </a:pPr>
            <a:r>
              <a:t>    ↓                    ↓</a:t>
            </a:r>
          </a:p>
          <a:p>
            <a:pPr>
              <a:spcAft>
                <a:spcPts val="100"/>
              </a:spcAft>
              <a:defRPr sz="1100">
                <a:solidFill>
                  <a:srgbClr val="FFCC80"/>
                </a:solidFill>
                <a:latin typeface="Consolas"/>
              </a:defRPr>
            </a:pPr>
            <a:r>
              <a:t>  任一拒绝 → 拦截交易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风控不能完全消除风险 · 极端行情(一字跌停)下止损可能无法执行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回测引擎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Backtest Engine — Vectorized Simulation + Slippage +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SimpleBacktestEngine — 纯numpy向量化实现，遵守A股T+1规则</a:t>
            </a:r>
          </a:p>
          <a:p>
            <a:pPr>
              <a:spcAft>
                <a:spcPts val="100"/>
              </a:spcAft>
              <a:defRPr sz="800">
                <a:solidFill>
                  <a:srgbClr val="444444"/>
                </a:solidFill>
                <a:latin typeface="Microsoft YaHei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逐日模拟流程: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① 继承前日持仓/现金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② 风控检查：止损→移动止损→日内限制→回撤限制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③ 信号处理：买入开仓 / 卖出平仓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④ 滑点+手续费计算（A股整手100股）</a:t>
            </a: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Consolas"/>
              </a:defRPr>
            </a:pPr>
            <a:r>
              <a:t>  ⑤ 更新权益 = 现金 + 持仓×当日收盘价</a:t>
            </a:r>
          </a:p>
          <a:p>
            <a:pPr>
              <a:spcAft>
                <a:spcPts val="100"/>
              </a:spcAft>
              <a:defRPr sz="800">
                <a:solidFill>
                  <a:srgbClr val="444444"/>
                </a:solidFill>
                <a:latin typeface="Microsoft YaHei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SlippageModel: 滑点0.1% + 佣金万三(最低5元) + 印花税千一(卖出)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645920"/>
            <a:ext cx="4572000" cy="21031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737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核心绩效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103120"/>
            <a:ext cx="42976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total_return — 累计收益率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annual_return — 年化收益率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sharpe_ratio — 夏普比率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calmar_ratio — 卡玛比率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max_drawdown — 最大回撤(%)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3931920"/>
            <a:ext cx="4572000" cy="21031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402335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交易统计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4389120"/>
            <a:ext cx="42976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trade_count — 总交易次数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win_rate — 胜率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win_loss_ratio — 盈亏比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profit_factor — 盈利因子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avg_win / avg_loss — 均盈/均亏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回测结果是历史模拟 · 不保证未来收益 · 过拟合/幸存者偏差可能导致结果失真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 Agent 智能分析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AI Agent — Market Diagnosis + Strategy Recommendation + 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737360" cy="914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📡</a:t>
            </a:r>
            <a:br/>
            <a:r>
              <a:t>数据加载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2468880" y="1965960"/>
            <a:ext cx="182880" cy="22860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1645920"/>
            <a:ext cx="1737360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  <a:br/>
            <a:r>
              <a:t>市场诊断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4389120" y="1965960"/>
            <a:ext cx="182880" cy="22860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1737360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  <a:br/>
            <a:r>
              <a:t>策略推荐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6309360" y="1965960"/>
            <a:ext cx="182880" cy="22860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645920"/>
            <a:ext cx="1737360" cy="914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🔧</a:t>
            </a:r>
            <a:br/>
            <a:r>
              <a:t>参数优化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8229600" y="1965960"/>
            <a:ext cx="182880" cy="22860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645920"/>
            <a:ext cx="1737360" cy="9144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📋</a:t>
            </a:r>
            <a:br/>
            <a:r>
              <a:t>报告生成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10149840" y="1965960"/>
            <a:ext cx="182880" cy="228600"/>
          </a:xfrm>
          <a:prstGeom prst="parallelogram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32720" y="1645920"/>
            <a:ext cx="1737360" cy="91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💬</a:t>
            </a:r>
            <a:br/>
            <a:r>
              <a:t>对话交互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5486400" cy="18288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MarketRegimeDetector 市场状态诊断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8328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ADX判断趋势强度(&gt;25有趋势, &lt;20无趋势)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波动率分位分析(高/中/低三档)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RSI超买超卖检测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自动计算建议仓位比例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综合风险等级评估(低/中/高)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输出: 中文诊断描述 + 结构化数据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926080"/>
            <a:ext cx="5029200" cy="18288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StrategySelector 策略自动推荐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383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知识库: 5种策略 + 适用场景映射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趋势↑ → 双均线趋势跟踪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趋势↓ → 空仓/逆势反弹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震荡 → RSI均值回归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不明 → 多因子综合打分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波动率自适应微调参数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20640"/>
            <a:ext cx="10424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27B0"/>
                </a:solidFill>
                <a:latin typeface="Microsoft YaHei"/>
              </a:defRPr>
            </a:pPr>
            <a:r>
              <a:t>ChatAgent 对话式交互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86400"/>
            <a:ext cx="10424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规则引擎 + 关键词匹配实现NLU（无需LLM API，完全本地运行）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支持8种意图：分析/市场/推荐/对比/解释/优化/风控/回测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内置知识库：策略对比表 + 6个量化概念详解（夏普/回撤/MACD/RSI/凯利/卡玛）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对话历史管理 + 股票代码自动识别 + 快捷提问按钮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Agent基于统计规则，非LLM · 输出不构成交易建议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可视化与参数优化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Visualization &amp; Optimization — 6 Charts + Grid Search + Overfitting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Consolas"/>
              </a:defRPr>
            </a:pPr>
            <a:r>
              <a:t>visualization/equity_curve.py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→ 权益曲线 vs 基准走势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Consolas"/>
              </a:defRPr>
            </a:pPr>
            <a:r>
              <a:t>visualization/drawdown.py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→ 回撤水下曲线 + 最大回撤标注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Consolas"/>
              </a:defRPr>
            </a:pPr>
            <a:r>
              <a:t>visualization/trades.py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→ 买卖点标记在K线图上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Consolas"/>
              </a:defRPr>
            </a:pPr>
            <a:r>
              <a:t>visualization/pnl_histogram.py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→ 逐笔盈亏分布直方图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Consolas"/>
              </a:defRPr>
            </a:pPr>
            <a:r>
              <a:t>visualization/signal_scatter.py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→ 信号强度 vs 未来收益散点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196F3"/>
                </a:solidFill>
                <a:latin typeface="Consolas"/>
              </a:defRPr>
            </a:pPr>
            <a:r>
              <a:t>visualization/dashboard.py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5F5"/>
                </a:solidFill>
                <a:latin typeface="Microsoft YaHei"/>
              </a:defRPr>
            </a:pPr>
            <a:r>
              <a:t>→ 四合一看板 (权益+回撤+信号+分布)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3474720" cy="18288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GridSearch 网格搜索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itertools.product 穷举组合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自定义评分指标(夏普/收益/回撤)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Top N 排序 + 最优参数输出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支持静态参数锁定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4572000"/>
            <a:ext cx="3474720" cy="18288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OverfittingDetector 过拟合检测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样本内(70%)网格搜索最优参数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样本外(30%)验证绩效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夏普衰减 &gt; 50% → 过拟合警告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Deflation Ratio(收缩比率)评估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572000"/>
            <a:ext cx="3474720" cy="18288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SensitivityAnalyzer 敏感性分析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029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OAT(One-at-a-time)逐个参数扫描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Tornado 图数据生成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识别高杠杆参数(敏感度排序)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指导参数调优方向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网格搜索加剧过拟合风险 · 须配合样本外验证 · 随机搜索/贝叶斯优化为备选方案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Project Structure — 60+ Python Files, 10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stock_quant_system/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agent/               🤖 AI量化Agent (市场诊断+策略推荐+对话)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│   ├── quant_agent.py       主Agent控制器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│   ├── market_regime.py     市场状态识别器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│   ├── strategy_selector.py 策略自动推荐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│   ├── auto_optimizer.py    参数自动优化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│   ├── report_generator.py  报告生成器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│   └── chat_agent.py       对话式Agent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config/              ⚙️ 全局配置 (DataConfig/BacktestConfig/RiskConfig)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data/                📡 数据层 (AKShare/YFinance/清洗/缓存)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factors/             📊 因子库 (12+指标 + 注册中心)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signals/             🎯 信号引擎 (趋势/反转/多因子/过滤链)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portfolio/           💰 仓位风控 (3模型 + 5规则 + 管理器)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backtest/            📈 回测引擎 (向量化模拟 + 指标 + 滑点)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optimization/        🔍 参数优化 (网格搜索 + 敏感性 + 过拟合)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visualization/       📉 可视化 (6种图表 + 综合看板)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live/                🔌 实盘接口抽象 (Order/Position/AccountInfo)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utils/               🛠️ 工具 (日志 + 异常体系)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examples/            📋 5个示例脚本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├── tests/               ✅ 测试</a:t>
            </a:r>
          </a:p>
          <a:p>
            <a:pPr>
              <a:spcAft>
                <a:spcPts val="0"/>
              </a:spcAft>
              <a:defRPr sz="1000">
                <a:solidFill>
                  <a:srgbClr val="F5F5F5"/>
                </a:solidFill>
                <a:latin typeface="Consolas"/>
              </a:defRPr>
            </a:pPr>
            <a:r>
              <a:t>    └── app.py               🌐 Streamlit Web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645920"/>
            <a:ext cx="2011680" cy="9144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196F3"/>
                </a:solidFill>
                <a:latin typeface="Microsoft YaHei"/>
              </a:defRPr>
            </a:pPr>
            <a:r>
              <a:t>60+</a:t>
            </a:r>
          </a:p>
          <a:p>
            <a:pPr algn="ctr"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Python文件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645920"/>
            <a:ext cx="2011680" cy="9144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196F3"/>
                </a:solidFill>
                <a:latin typeface="Microsoft YaHei"/>
              </a:defRPr>
            </a:pPr>
            <a:r>
              <a:t>10</a:t>
            </a:r>
          </a:p>
          <a:p>
            <a:pPr algn="ctr"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功能模块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834640"/>
            <a:ext cx="2011680" cy="9144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196F3"/>
                </a:solidFill>
                <a:latin typeface="Microsoft YaHei"/>
              </a:defRPr>
            </a:pPr>
            <a:r>
              <a:t>12+</a:t>
            </a:r>
          </a:p>
          <a:p>
            <a:pPr algn="ctr"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技术因子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2834640"/>
            <a:ext cx="2011680" cy="9144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196F3"/>
                </a:solidFill>
                <a:latin typeface="Microsoft YaHei"/>
              </a:defRPr>
            </a:pPr>
            <a:r>
              <a:t>5</a:t>
            </a:r>
          </a:p>
          <a:p>
            <a:pPr algn="ctr"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交易策略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4023360"/>
            <a:ext cx="2011680" cy="9144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196F3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仓位模型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4023360"/>
            <a:ext cx="2011680" cy="9144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196F3"/>
                </a:solidFill>
                <a:latin typeface="Microsoft YaHei"/>
              </a:defRPr>
            </a:pPr>
            <a:r>
              <a:t>5</a:t>
            </a:r>
          </a:p>
          <a:p>
            <a:pPr algn="ctr"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风控规则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5212080"/>
            <a:ext cx="2011680" cy="9144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196F3"/>
                </a:solidFill>
                <a:latin typeface="Microsoft YaHei"/>
              </a:defRPr>
            </a:pPr>
            <a:r>
              <a:t>6</a:t>
            </a:r>
          </a:p>
          <a:p>
            <a:pPr algn="ctr"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图表类型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5212080"/>
            <a:ext cx="2011680" cy="91440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196F3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defRPr sz="1200">
                <a:solidFill>
                  <a:srgbClr val="F5F5F5"/>
                </a:solidFill>
                <a:latin typeface="Microsoft YaHei"/>
              </a:defRPr>
            </a:pPr>
            <a: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模块化架构 · 每个模块可独立导入调用 · 松耦合设计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Technology Stack — Python Open-Source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651760" cy="2560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AKShare — A股数据（免费无API Key）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YFinance — 美股数据（备用）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Pandas 3.x — 数据处理核心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NumPy 2.x — 向量化数值计算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645920"/>
            <a:ext cx="2651760" cy="2560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计算层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0312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Scipy — 统计分析（回归/检验）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Statsmodels — 计量经济学模型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Pandas-TA — 技术指标（备用）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45920"/>
            <a:ext cx="2651760" cy="2560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回测层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0312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VectorBT — 轻量向量化回测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Backtrader — 事件驱动复杂回测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自研 SimpleBacktestEngine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645920"/>
            <a:ext cx="2651760" cy="256032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27B0"/>
                </a:solidFill>
                <a:latin typeface="Microsoft YaHei"/>
              </a:defRPr>
            </a:pPr>
            <a:r>
              <a:t>界面层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103120"/>
            <a:ext cx="237744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Streamlit 1.58 — Web UI框架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Matplotlib — 图表渲染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python-pptx — PPT自动生成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icrosoft YaHei"/>
              </a:defRPr>
            </a:pPr>
            <a:r>
              <a:t>核心依赖: pandas&gt;=2.2  numpy&gt;=1.26  akshare&gt;=1.14  matplotlib&gt;=3.8  streamlit&gt;=1.58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icrosoft YaHei"/>
              </a:defRPr>
            </a:pPr>
            <a:r>
              <a:t>可选: vectorbt&gt;=0.5  backtrader&gt;=1.9  scipy&gt;=1.12  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全部使用Python开源工具链 · 无需商业授权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策略缺陷与过拟合风险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Microsoft YaHei"/>
              </a:defRPr>
            </a:pPr>
            <a:r>
              <a:t>Limitations &amp; Overfitting — 不可忽视的风险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45720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219456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4336"/>
                </a:solidFill>
                <a:latin typeface="Microsoft YaHei"/>
              </a:defRPr>
            </a:pPr>
            <a:r>
              <a:t>过拟合风险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029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网格搜索在样本内表现好，样本外可能大幅衰减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夏普衰减&gt;50% 或样本外夏普&lt;0 → 严重过拟合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参数越多、搜索空间越大 → 过拟合越严重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219456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策略缺陷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5029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趋势策略: 震荡市频繁假信号 → 磨损本金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均值回归: 强趋势市接飞刀 → 可能大亏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多因子: 因子共线性 → 权重失效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回测偏差: 前视偏差、幸存者偏差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5303520" cy="219456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4336"/>
                </a:solidFill>
                <a:latin typeface="Microsoft YaHei"/>
              </a:defRPr>
            </a:pPr>
            <a:r>
              <a:t>市场风险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5029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黑天鹅: 模型无法预测极端事件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流动性: 小盘股滑点远超模型假设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政策: A股T+1、涨跌停、停牌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心理: 实盘亏损时的情绪干扰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114800"/>
            <a:ext cx="5303520" cy="2194560"/>
          </a:xfrm>
          <a:prstGeom prst="rect">
            <a:avLst/>
          </a:prstGeom>
          <a:solidFill>
            <a:srgbClr val="2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改进方向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72000"/>
            <a:ext cx="50292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样本外验证 + 交叉验证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波动率过滤器（高波动暂停交易）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策略组合降低单策略失效风险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多周期参数平均（而非最优单值）</a:t>
            </a:r>
          </a:p>
          <a:p>
            <a:pPr>
              <a:spcAft>
                <a:spcPts val="400"/>
              </a:spcAft>
              <a:defRPr sz="1100">
                <a:solidFill>
                  <a:srgbClr val="F5F5F5"/>
                </a:solidFill>
                <a:latin typeface="Microsoft YaHei"/>
              </a:defRPr>
            </a:pPr>
            <a:r>
              <a:t>• Walk-Forward 滚动窗口分析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⚠️ 以上风险演示用于教学 · 实盘交易需专业风控和充分测试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058400" cy="274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完整的量化回测系统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Microsoft YaHei"/>
              </a:defRPr>
            </a:pPr>
            <a:r>
              <a:t>数据采集→因子计算→信号生成→仓位风控→回测→可视化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 Agent 智能分析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14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Microsoft YaHei"/>
              </a:defRPr>
            </a:pPr>
            <a:r>
              <a:t>市场诊断+策略推荐+参数优化+报告生成 全自动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对话式交互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Microsoft YaHei"/>
              </a:defRPr>
            </a:pPr>
            <a:r>
              <a:t>自然语言查询分析，8种意图识别，无需LLM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模块化可扩展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Microsoft YaHei"/>
              </a:defRPr>
            </a:pPr>
            <a:r>
              <a:t>60+文件10大模块，因子注册中心支持热插拔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Web UI +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Microsoft YaHei"/>
              </a:defRPr>
            </a:pPr>
            <a:r>
              <a:t>Streamlit网页界面 (3功能标签) + 命令行脚本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CAF50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教学导向设计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257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Microsoft YaHei"/>
              </a:defRPr>
            </a:pPr>
            <a:r>
              <a:t>完整中文文档+注释+风险提示+过拟合检测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Microsoft YaHei"/>
              </a:defRPr>
            </a:pPr>
            <a:r>
              <a:t>⚠️ 风险声明：本系统所有代码仅供教育及研究目的，不构成任何投资建议。过往业绩不代表未来表现。投资有风险，入市须谨慎。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Microsoft YaHei"/>
              </a:defRPr>
            </a:pPr>
            <a:r>
              <a:t>2026 · Stock Quantitative Trading System · Built with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